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1811000" cy="16713200"/>
  <p:notesSz cx="6858000" cy="9144000"/>
  <p:embeddedFontLst>
    <p:embeddedFont>
      <p:font typeface="Quicksand Bold" charset="1" panose="00000000000000000000"/>
      <p:regular r:id="rId9"/>
    </p:embeddedFont>
    <p:embeddedFont>
      <p:font typeface="Quicksand" charset="1" panose="00000000000000000000"/>
      <p:regular r:id="rId10"/>
    </p:embeddedFont>
    <p:embeddedFont>
      <p:font typeface="Anton" charset="1" panose="000005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5261" y="463852"/>
            <a:ext cx="3067442" cy="3067442"/>
          </a:xfrm>
          <a:custGeom>
            <a:avLst/>
            <a:gdLst/>
            <a:ahLst/>
            <a:cxnLst/>
            <a:rect r="r" b="b" t="t" l="l"/>
            <a:pathLst>
              <a:path h="3067442" w="3067442">
                <a:moveTo>
                  <a:pt x="0" y="0"/>
                </a:moveTo>
                <a:lnTo>
                  <a:pt x="3067442" y="0"/>
                </a:lnTo>
                <a:lnTo>
                  <a:pt x="3067442" y="3067442"/>
                </a:lnTo>
                <a:lnTo>
                  <a:pt x="0" y="3067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2052" y="4270674"/>
            <a:ext cx="9456420" cy="1146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8"/>
              </a:lnSpc>
              <a:spcBef>
                <a:spcPct val="0"/>
              </a:spcBef>
            </a:pPr>
            <a:r>
              <a:rPr lang="en-US" b="true" sz="2884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Course Curriculum</a:t>
            </a:r>
          </a:p>
          <a:p>
            <a:pPr algn="l">
              <a:lnSpc>
                <a:spcPts val="3624"/>
              </a:lnSpc>
              <a:spcBef>
                <a:spcPct val="0"/>
              </a:spcBef>
            </a:pPr>
            <a:r>
              <a:rPr lang="en-US" b="true" sz="2588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Module 1: Introduction to Data Science &amp; Python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What is Data Science and its business applications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Data Science lifecycle and workflow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Introduction to Python programming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Setting up Python environment (Anaconda, Jupyter Notebook)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Python basics: Variables, Data Types, Operators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Control Statements and Loops</a:t>
            </a:r>
          </a:p>
          <a:p>
            <a:pPr algn="l">
              <a:lnSpc>
                <a:spcPts val="3624"/>
              </a:lnSpc>
            </a:pPr>
          </a:p>
          <a:p>
            <a:pPr algn="l">
              <a:lnSpc>
                <a:spcPts val="3624"/>
              </a:lnSpc>
              <a:spcBef>
                <a:spcPct val="0"/>
              </a:spcBef>
            </a:pPr>
            <a:r>
              <a:rPr lang="en-US" b="true" sz="2588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Module 2: Python for Data Handling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Fu</a:t>
            </a: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nctions and Moduls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Lists, Tuples, Sets, Dictionaries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File Handling in Python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Exception Handling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Introduction to NumPy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Array operations and mathematical functions</a:t>
            </a:r>
          </a:p>
          <a:p>
            <a:pPr algn="l">
              <a:lnSpc>
                <a:spcPts val="3624"/>
              </a:lnSpc>
            </a:pPr>
          </a:p>
          <a:p>
            <a:pPr algn="l">
              <a:lnSpc>
                <a:spcPts val="3624"/>
              </a:lnSpc>
              <a:spcBef>
                <a:spcPct val="0"/>
              </a:spcBef>
            </a:pPr>
            <a:r>
              <a:rPr lang="en-US" b="true" sz="2588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Module 3: Data Manipulation with Pandas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Int</a:t>
            </a: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roduction to Pandas DataFrames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Data Loading (CSV, Excel, JSON)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Data Cleaning and Preprocessing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Handling Missing Values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Filtering, Grouping, and Aggregation</a:t>
            </a:r>
          </a:p>
          <a:p>
            <a:pPr algn="l">
              <a:lnSpc>
                <a:spcPts val="3624"/>
              </a:lnSpc>
            </a:pPr>
            <a:r>
              <a:rPr lang="en-US" sz="258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Data Transformation Techniques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-14863"/>
            <a:ext cx="11820525" cy="16731238"/>
            <a:chOff x="0" y="0"/>
            <a:chExt cx="2709333" cy="38348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3834897"/>
            </a:xfrm>
            <a:custGeom>
              <a:avLst/>
              <a:gdLst/>
              <a:ahLst/>
              <a:cxnLst/>
              <a:rect r="r" b="b" t="t" l="l"/>
              <a:pathLst>
                <a:path h="3834897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3834897"/>
                  </a:lnTo>
                  <a:lnTo>
                    <a:pt x="0" y="3834897"/>
                  </a:lnTo>
                  <a:close/>
                </a:path>
              </a:pathLst>
            </a:custGeom>
            <a:ln w="38100" cap="sq">
              <a:solidFill>
                <a:srgbClr val="30C1F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9333" cy="3872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682767" y="494614"/>
            <a:ext cx="5955705" cy="303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3"/>
              </a:lnSpc>
              <a:spcBef>
                <a:spcPct val="0"/>
              </a:spcBef>
            </a:pPr>
            <a:r>
              <a:rPr lang="en-US" sz="8695">
                <a:solidFill>
                  <a:srgbClr val="10526F"/>
                </a:solidFill>
                <a:latin typeface="Anton"/>
                <a:ea typeface="Anton"/>
                <a:cs typeface="Anton"/>
                <a:sym typeface="Anton"/>
              </a:rPr>
              <a:t>Data Science </a:t>
            </a:r>
          </a:p>
          <a:p>
            <a:pPr algn="ctr">
              <a:lnSpc>
                <a:spcPts val="12173"/>
              </a:lnSpc>
              <a:spcBef>
                <a:spcPct val="0"/>
              </a:spcBef>
            </a:pPr>
            <a:r>
              <a:rPr lang="en-US" sz="8695">
                <a:solidFill>
                  <a:srgbClr val="F9D042"/>
                </a:solidFill>
                <a:latin typeface="Anton"/>
                <a:ea typeface="Anton"/>
                <a:cs typeface="Anton"/>
                <a:sym typeface="Anton"/>
              </a:rPr>
              <a:t>with Python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2603550">
            <a:off x="953497" y="6718716"/>
            <a:ext cx="9913530" cy="3278943"/>
          </a:xfrm>
          <a:custGeom>
            <a:avLst/>
            <a:gdLst/>
            <a:ahLst/>
            <a:cxnLst/>
            <a:rect r="r" b="b" t="t" l="l"/>
            <a:pathLst>
              <a:path h="3278943" w="9913530">
                <a:moveTo>
                  <a:pt x="0" y="0"/>
                </a:moveTo>
                <a:lnTo>
                  <a:pt x="9913531" y="0"/>
                </a:lnTo>
                <a:lnTo>
                  <a:pt x="9913531" y="3278943"/>
                </a:lnTo>
                <a:lnTo>
                  <a:pt x="0" y="32789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5261" y="463852"/>
            <a:ext cx="3067442" cy="3067442"/>
          </a:xfrm>
          <a:custGeom>
            <a:avLst/>
            <a:gdLst/>
            <a:ahLst/>
            <a:cxnLst/>
            <a:rect r="r" b="b" t="t" l="l"/>
            <a:pathLst>
              <a:path h="3067442" w="3067442">
                <a:moveTo>
                  <a:pt x="0" y="0"/>
                </a:moveTo>
                <a:lnTo>
                  <a:pt x="3067442" y="0"/>
                </a:lnTo>
                <a:lnTo>
                  <a:pt x="3067442" y="3067442"/>
                </a:lnTo>
                <a:lnTo>
                  <a:pt x="0" y="3067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82767" y="494614"/>
            <a:ext cx="5955705" cy="303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3"/>
              </a:lnSpc>
              <a:spcBef>
                <a:spcPct val="0"/>
              </a:spcBef>
            </a:pPr>
            <a:r>
              <a:rPr lang="en-US" sz="8695">
                <a:solidFill>
                  <a:srgbClr val="10526F"/>
                </a:solidFill>
                <a:latin typeface="Anton"/>
                <a:ea typeface="Anton"/>
                <a:cs typeface="Anton"/>
                <a:sym typeface="Anton"/>
              </a:rPr>
              <a:t>Data Science </a:t>
            </a:r>
          </a:p>
          <a:p>
            <a:pPr algn="ctr">
              <a:lnSpc>
                <a:spcPts val="12173"/>
              </a:lnSpc>
              <a:spcBef>
                <a:spcPct val="0"/>
              </a:spcBef>
            </a:pPr>
            <a:r>
              <a:rPr lang="en-US" sz="8695">
                <a:solidFill>
                  <a:srgbClr val="F9D042"/>
                </a:solidFill>
                <a:latin typeface="Anton"/>
                <a:ea typeface="Anton"/>
                <a:cs typeface="Anton"/>
                <a:sym typeface="Anton"/>
              </a:rPr>
              <a:t>with Python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2053" y="4723134"/>
            <a:ext cx="9456420" cy="1081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  <a:spcBef>
                <a:spcPct val="0"/>
              </a:spcBef>
            </a:pPr>
            <a:r>
              <a:rPr lang="en-US" b="true" sz="2585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Module 4: Data Visualization &amp; Exploratory Data Analysis (EDA)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Introduction </a:t>
            </a: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to EDA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Data Visualization using Matplotlib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Visualization with Seaborn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Univariate and Bivariate Analysis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Correlation and Pattern Identification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Business Insight Generation</a:t>
            </a:r>
          </a:p>
          <a:p>
            <a:pPr algn="l">
              <a:lnSpc>
                <a:spcPts val="3619"/>
              </a:lnSpc>
            </a:pPr>
          </a:p>
          <a:p>
            <a:pPr algn="l">
              <a:lnSpc>
                <a:spcPts val="3619"/>
              </a:lnSpc>
              <a:spcBef>
                <a:spcPct val="0"/>
              </a:spcBef>
            </a:pPr>
            <a:r>
              <a:rPr lang="en-US" b="true" sz="2585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Module 5: Statistics for Data Science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Des</a:t>
            </a: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criptive Statistics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Probability Concepts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Probability Distributions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Hypothesis Testing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Co</a:t>
            </a: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rrelation and Regression Basics</a:t>
            </a:r>
          </a:p>
          <a:p>
            <a:pPr algn="l">
              <a:lnSpc>
                <a:spcPts val="3619"/>
              </a:lnSpc>
            </a:pPr>
          </a:p>
          <a:p>
            <a:pPr algn="l">
              <a:lnSpc>
                <a:spcPts val="3619"/>
              </a:lnSpc>
              <a:spcBef>
                <a:spcPct val="0"/>
              </a:spcBef>
            </a:pPr>
            <a:r>
              <a:rPr lang="en-US" b="true" sz="2585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Module 6: Machine Learning – Supervised Learning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Int</a:t>
            </a: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roduction to Machine Learning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Regression (Linear &amp; Multiple Regression)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Classification (Logistic Regression, KNN, Decision Trees)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Model Eva</a:t>
            </a: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luation Metrics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Overfitting &amp; Underfitting</a:t>
            </a:r>
          </a:p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Cross-Validation Techniques</a:t>
            </a:r>
          </a:p>
          <a:p>
            <a:pPr algn="l">
              <a:lnSpc>
                <a:spcPts val="3248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-14863"/>
            <a:ext cx="11820525" cy="16731238"/>
            <a:chOff x="0" y="0"/>
            <a:chExt cx="2709333" cy="38348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3" cy="3834897"/>
            </a:xfrm>
            <a:custGeom>
              <a:avLst/>
              <a:gdLst/>
              <a:ahLst/>
              <a:cxnLst/>
              <a:rect r="r" b="b" t="t" l="l"/>
              <a:pathLst>
                <a:path h="3834897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3834897"/>
                  </a:lnTo>
                  <a:lnTo>
                    <a:pt x="0" y="3834897"/>
                  </a:lnTo>
                  <a:close/>
                </a:path>
              </a:pathLst>
            </a:custGeom>
            <a:ln w="38100" cap="sq">
              <a:solidFill>
                <a:srgbClr val="30C1F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3" cy="3872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2603550">
            <a:off x="953497" y="6718716"/>
            <a:ext cx="9913530" cy="3278943"/>
          </a:xfrm>
          <a:custGeom>
            <a:avLst/>
            <a:gdLst/>
            <a:ahLst/>
            <a:cxnLst/>
            <a:rect r="r" b="b" t="t" l="l"/>
            <a:pathLst>
              <a:path h="3278943" w="9913530">
                <a:moveTo>
                  <a:pt x="0" y="0"/>
                </a:moveTo>
                <a:lnTo>
                  <a:pt x="9913531" y="0"/>
                </a:lnTo>
                <a:lnTo>
                  <a:pt x="9913531" y="3278943"/>
                </a:lnTo>
                <a:lnTo>
                  <a:pt x="0" y="32789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5261" y="463852"/>
            <a:ext cx="3067442" cy="3067442"/>
          </a:xfrm>
          <a:custGeom>
            <a:avLst/>
            <a:gdLst/>
            <a:ahLst/>
            <a:cxnLst/>
            <a:rect r="r" b="b" t="t" l="l"/>
            <a:pathLst>
              <a:path h="3067442" w="3067442">
                <a:moveTo>
                  <a:pt x="0" y="0"/>
                </a:moveTo>
                <a:lnTo>
                  <a:pt x="3067442" y="0"/>
                </a:lnTo>
                <a:lnTo>
                  <a:pt x="3067442" y="3067442"/>
                </a:lnTo>
                <a:lnTo>
                  <a:pt x="0" y="3067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2053" y="4732659"/>
            <a:ext cx="8983576" cy="10801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8"/>
              </a:lnSpc>
            </a:pPr>
            <a:r>
              <a:rPr lang="en-US" b="true" sz="2456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Module 7: Machine Learning – Unsupervised Learning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</a:t>
            </a: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lustering (K-Means, Hierarchical Clustering)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Dimensionality Reduction (PCA)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Association Rule Mining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Real-world Use Cases</a:t>
            </a:r>
          </a:p>
          <a:p>
            <a:pPr algn="l">
              <a:lnSpc>
                <a:spcPts val="3438"/>
              </a:lnSpc>
            </a:pPr>
          </a:p>
          <a:p>
            <a:pPr algn="l">
              <a:lnSpc>
                <a:spcPts val="3438"/>
              </a:lnSpc>
            </a:pPr>
            <a:r>
              <a:rPr lang="en-US" b="true" sz="2456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Module 8: Advanced Machine L</a:t>
            </a:r>
            <a:r>
              <a:rPr lang="en-US" b="true" sz="2456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earning Concepts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Fe</a:t>
            </a: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ature Engineering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Hyperparameter Tuning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Ens</a:t>
            </a: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emble Methods (Random Forest, Gradient Boosting)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Model Optimization Techniques</a:t>
            </a:r>
          </a:p>
          <a:p>
            <a:pPr algn="l">
              <a:lnSpc>
                <a:spcPts val="3438"/>
              </a:lnSpc>
            </a:pPr>
          </a:p>
          <a:p>
            <a:pPr algn="l">
              <a:lnSpc>
                <a:spcPts val="3438"/>
              </a:lnSpc>
              <a:spcBef>
                <a:spcPct val="0"/>
              </a:spcBef>
            </a:pPr>
            <a:r>
              <a:rPr lang="en-US" b="true" sz="2456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Module 9: Model Deployment &amp; Real-Time Applications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Int</a:t>
            </a: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roduction to Model Deployment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Saving and Loading Models (Pickle/Joblib)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Building Simple Web App with Flask/Streamlit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GitHub Project Depl</a:t>
            </a: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oyment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End-</a:t>
            </a: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to-End Project Workflow</a:t>
            </a:r>
          </a:p>
          <a:p>
            <a:pPr algn="l">
              <a:lnSpc>
                <a:spcPts val="3438"/>
              </a:lnSpc>
            </a:pPr>
          </a:p>
          <a:p>
            <a:pPr algn="l">
              <a:lnSpc>
                <a:spcPts val="3438"/>
              </a:lnSpc>
            </a:pPr>
            <a:r>
              <a:rPr lang="en-US" b="true" sz="2456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Module 10: Live Projects – Real-Time Industry Use Cases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Sales Prediction Model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Customer Churn Prediction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Credit Risk Analysis</a:t>
            </a:r>
          </a:p>
          <a:p>
            <a:pPr algn="l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Sentiment Analysis Project</a:t>
            </a:r>
          </a:p>
          <a:p>
            <a:pPr algn="l">
              <a:lnSpc>
                <a:spcPts val="3086"/>
              </a:lnSpc>
            </a:pPr>
            <a:r>
              <a:rPr lang="en-US" sz="2204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Business Dashboard Creation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1820525" cy="16716375"/>
            <a:chOff x="0" y="0"/>
            <a:chExt cx="2709333" cy="38314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3831491"/>
            </a:xfrm>
            <a:custGeom>
              <a:avLst/>
              <a:gdLst/>
              <a:ahLst/>
              <a:cxnLst/>
              <a:rect r="r" b="b" t="t" l="l"/>
              <a:pathLst>
                <a:path h="3831491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3831491"/>
                  </a:lnTo>
                  <a:lnTo>
                    <a:pt x="0" y="3831491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9333" cy="38695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682767" y="494614"/>
            <a:ext cx="5955705" cy="303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3"/>
              </a:lnSpc>
              <a:spcBef>
                <a:spcPct val="0"/>
              </a:spcBef>
            </a:pPr>
            <a:r>
              <a:rPr lang="en-US" sz="8695">
                <a:solidFill>
                  <a:srgbClr val="10526F"/>
                </a:solidFill>
                <a:latin typeface="Anton"/>
                <a:ea typeface="Anton"/>
                <a:cs typeface="Anton"/>
                <a:sym typeface="Anton"/>
              </a:rPr>
              <a:t>Data Science </a:t>
            </a:r>
          </a:p>
          <a:p>
            <a:pPr algn="ctr">
              <a:lnSpc>
                <a:spcPts val="12173"/>
              </a:lnSpc>
              <a:spcBef>
                <a:spcPct val="0"/>
              </a:spcBef>
            </a:pPr>
            <a:r>
              <a:rPr lang="en-US" sz="8695">
                <a:solidFill>
                  <a:srgbClr val="F9D042"/>
                </a:solidFill>
                <a:latin typeface="Anton"/>
                <a:ea typeface="Anton"/>
                <a:cs typeface="Anton"/>
                <a:sym typeface="Anton"/>
              </a:rPr>
              <a:t>with Python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-14863"/>
            <a:ext cx="11820525" cy="16731238"/>
            <a:chOff x="0" y="0"/>
            <a:chExt cx="2709333" cy="38348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3" cy="3834897"/>
            </a:xfrm>
            <a:custGeom>
              <a:avLst/>
              <a:gdLst/>
              <a:ahLst/>
              <a:cxnLst/>
              <a:rect r="r" b="b" t="t" l="l"/>
              <a:pathLst>
                <a:path h="3834897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3834897"/>
                  </a:lnTo>
                  <a:lnTo>
                    <a:pt x="0" y="3834897"/>
                  </a:lnTo>
                  <a:close/>
                </a:path>
              </a:pathLst>
            </a:custGeom>
            <a:ln w="38100" cap="sq">
              <a:solidFill>
                <a:srgbClr val="30C1F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3" cy="3872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2603550">
            <a:off x="953497" y="6718716"/>
            <a:ext cx="9913530" cy="3278943"/>
          </a:xfrm>
          <a:custGeom>
            <a:avLst/>
            <a:gdLst/>
            <a:ahLst/>
            <a:cxnLst/>
            <a:rect r="r" b="b" t="t" l="l"/>
            <a:pathLst>
              <a:path h="3278943" w="9913530">
                <a:moveTo>
                  <a:pt x="0" y="0"/>
                </a:moveTo>
                <a:lnTo>
                  <a:pt x="9913531" y="0"/>
                </a:lnTo>
                <a:lnTo>
                  <a:pt x="9913531" y="3278943"/>
                </a:lnTo>
                <a:lnTo>
                  <a:pt x="0" y="32789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DAHBqxBolw8</dc:identifier>
  <dcterms:modified xsi:type="dcterms:W3CDTF">2011-08-01T06:04:30Z</dcterms:modified>
  <cp:revision>1</cp:revision>
  <dc:title>Black and Green Atmospheric Forest Path Desktop Wallpaper (1241 x 1755 px)</dc:title>
</cp:coreProperties>
</file>